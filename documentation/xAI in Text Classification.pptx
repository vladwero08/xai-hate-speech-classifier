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embeddedFontLst>
    <p:embeddedFont>
      <p:font typeface="Proxima Nova"/>
      <p:regular r:id="rId27"/>
      <p:bold r:id="rId28"/>
      <p:italic r:id="rId29"/>
      <p:boldItalic r:id="rId30"/>
    </p:embeddedFont>
    <p:embeddedFont>
      <p:font typeface="Alfa Slab One"/>
      <p:regular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AF32BE9-7C58-4FAF-A935-57CF8D1395A2}">
  <a:tblStyle styleId="{0AF32BE9-7C58-4FAF-A935-57CF8D1395A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ProximaNova-bold.fntdata"/><Relationship Id="rId27" Type="http://schemas.openxmlformats.org/officeDocument/2006/relationships/font" Target="fonts/ProximaNova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roximaNova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AlfaSlabOne-regular.fntdata"/><Relationship Id="rId30" Type="http://schemas.openxmlformats.org/officeDocument/2006/relationships/font" Target="fonts/ProximaNova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c863318255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c863318255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863318255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c863318255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c863318255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c863318255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c863318255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c863318255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863318255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c863318255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863318255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c863318255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863318255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c863318255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c863318255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c863318255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c863318255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c863318255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c863318255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c863318255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c863318255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c863318255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c863318255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c863318255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863318255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c863318255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c863318255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c863318255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c863318255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c863318255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c863318255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c863318255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c863318255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c863318255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c863318255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c863318255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c863318255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c863318255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xAI in Text Classification</a:t>
            </a:r>
            <a:endParaRPr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Vlad Mihai Olaeriu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/>
              <a:t>Are attentions reliable explanations? What is the influence of xAI in NLP?</a:t>
            </a:r>
            <a:endParaRPr b="1" i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Recent research questions the reliability and stability of attention as an explanation method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Critical for hate speech detection, depression classification or any other clinical/monitoring text application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Aim is to compare attention with the LIME and SHAP saliency methods on hate speech classification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Related Work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Jain &amp; Wallace (2019) </a:t>
            </a:r>
            <a:r>
              <a:rPr lang="en-GB"/>
              <a:t>showed that attention weights show weak or zero correlation with gradient based methods; moreover, they showed that you can construct adversarial attention distribution that yield identical predictions.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/>
              <a:t>Bastings &amp; Filippova (2020) </a:t>
            </a:r>
            <a:r>
              <a:rPr lang="en-GB"/>
              <a:t>stated that attention only captures single computation point, missing full information flow and they recommended saliency methods for identifying important tokens.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Dataset - UC Berkeley Hate Speech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39,565 comments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7,192 annotators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/>
              <a:t>Hate speech score</a:t>
            </a:r>
            <a:r>
              <a:rPr lang="en-GB"/>
              <a:t> for each comment: &gt;=0.5 hate speech, &lt;=-1 supportive speech and the interval inside neutral / ambiguous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/>
              <a:t>Eight </a:t>
            </a:r>
            <a:r>
              <a:rPr b="1" lang="en-GB"/>
              <a:t>identity</a:t>
            </a:r>
            <a:r>
              <a:rPr b="1" lang="en-GB"/>
              <a:t> groups</a:t>
            </a:r>
            <a:r>
              <a:rPr lang="en-GB"/>
              <a:t>: race, religion, gender, origin, age, sexuality, disability, and politics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Dataset - UC Berkeley Hate Speech</a:t>
            </a:r>
            <a:endParaRPr/>
          </a:p>
        </p:txBody>
      </p:sp>
      <p:pic>
        <p:nvPicPr>
          <p:cNvPr id="81" name="Google Shape;81;p17" title="hate_speech_distribu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9925" y="1121525"/>
            <a:ext cx="5427743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Model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/>
              <a:t>f</a:t>
            </a:r>
            <a:r>
              <a:rPr b="1" lang="en-GB"/>
              <a:t>acebook/roberta-hate-speech-dynabench-r4-target 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4 rounds of human-and-model-in-the-loop training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12 heads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12 layers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Method - Explanation Features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4552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-GB"/>
              <a:t>Attention Scores </a:t>
            </a:r>
            <a:r>
              <a:rPr lang="en-GB"/>
              <a:t>were computed using the last L = 4 layers of the RoBERTa model with all of its H = 12 attention heads. The query token targeted was the [CLS] one, and the key was represented by each of the other tokens.</a:t>
            </a:r>
            <a:endParaRPr/>
          </a:p>
        </p:txBody>
      </p:sp>
      <p:pic>
        <p:nvPicPr>
          <p:cNvPr id="94" name="Google Shape;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2994" y="2571775"/>
            <a:ext cx="4538025" cy="122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Method - Explanation Features</a:t>
            </a:r>
            <a:endParaRPr/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1152475"/>
            <a:ext cx="84552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-GB"/>
              <a:t>Lime Scores </a:t>
            </a:r>
            <a:r>
              <a:rPr lang="en-GB"/>
              <a:t>were generated using a total of N = 1000 perturbed samples by the surrogate classifier, and the tokenization method used was the default one provided by the </a:t>
            </a:r>
            <a:r>
              <a:rPr i="1" lang="en-GB"/>
              <a:t>lime </a:t>
            </a:r>
            <a:r>
              <a:rPr lang="en-GB"/>
              <a:t>module.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Method - Explanation Features</a:t>
            </a:r>
            <a:endParaRPr/>
          </a:p>
        </p:txBody>
      </p:sp>
      <p:sp>
        <p:nvSpPr>
          <p:cNvPr id="106" name="Google Shape;106;p21"/>
          <p:cNvSpPr txBox="1"/>
          <p:nvPr>
            <p:ph idx="1" type="body"/>
          </p:nvPr>
        </p:nvSpPr>
        <p:spPr>
          <a:xfrm>
            <a:off x="311700" y="1152475"/>
            <a:ext cx="84552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-GB"/>
              <a:t>SHAP scores </a:t>
            </a:r>
            <a:r>
              <a:rPr lang="en-GB"/>
              <a:t>were computed using the model’s tokenizer, which provided the possibility to compare them to the attention scores, to see how well they correlate. Each token was </a:t>
            </a:r>
            <a:r>
              <a:rPr i="1" lang="en-GB"/>
              <a:t>masked, </a:t>
            </a:r>
            <a:r>
              <a:rPr lang="en-GB"/>
              <a:t>and the behavior of the model without the masked token yielded this score.</a:t>
            </a:r>
            <a:r>
              <a:rPr i="1" lang="en-GB"/>
              <a:t> 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Method - Explanation Features</a:t>
            </a:r>
            <a:endParaRPr/>
          </a:p>
        </p:txBody>
      </p:sp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311700" y="1152475"/>
            <a:ext cx="8455200" cy="28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Evaluation: </a:t>
            </a:r>
            <a:r>
              <a:rPr lang="en-GB"/>
              <a:t>after the computation of scores, they were normalized using softmax, and for each sample, the following metrics were computed: entropy, Gini and top-5 mass token concentration.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These metrics were then averaged together by hate speech category.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/>
              <a:t>Ranking</a:t>
            </a:r>
            <a:r>
              <a:rPr lang="en-GB"/>
              <a:t>: the correlation attention and SHAP scores was </a:t>
            </a:r>
            <a:r>
              <a:rPr lang="en-GB"/>
              <a:t>assessed</a:t>
            </a:r>
            <a:r>
              <a:rPr lang="en-GB"/>
              <a:t> using: Spearman, Kendall Tau for all tokens and Jaccard for the top-5 highest scoring tokens.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Method - Adversarial Examples</a:t>
            </a:r>
            <a:endParaRPr/>
          </a:p>
        </p:txBody>
      </p:sp>
      <p:sp>
        <p:nvSpPr>
          <p:cNvPr id="118" name="Google Shape;118;p23"/>
          <p:cNvSpPr txBox="1"/>
          <p:nvPr>
            <p:ph idx="1" type="body"/>
          </p:nvPr>
        </p:nvSpPr>
        <p:spPr>
          <a:xfrm>
            <a:off x="311700" y="1152475"/>
            <a:ext cx="8455200" cy="25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For each sample, the top-5 highest scoring tokens were replaced with semantically similar synonyms using </a:t>
            </a:r>
            <a:r>
              <a:rPr i="1" lang="en-GB" sz="1600"/>
              <a:t>wordnet, </a:t>
            </a:r>
            <a:r>
              <a:rPr lang="en-GB" sz="1600"/>
              <a:t>and the attention, LIME and SHAP scores were recomputed for the adversarial examples.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600"/>
              <a:t>Evaluation per hate speech category</a:t>
            </a:r>
            <a:r>
              <a:rPr lang="en-GB" sz="1600"/>
              <a:t>: </a:t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-"/>
            </a:pPr>
            <a:r>
              <a:rPr b="1" lang="en-GB" sz="1600"/>
              <a:t>flip rate (FR):</a:t>
            </a:r>
            <a:r>
              <a:rPr lang="en-GB" sz="1600"/>
              <a:t> how many predictions changed from hate speech to non hate speech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en-GB" sz="1600"/>
              <a:t>confidence distribution (CD): </a:t>
            </a:r>
            <a:r>
              <a:rPr lang="en-GB" sz="1600"/>
              <a:t>how much the hate speech prediction changed, mean and standard deviation for this distribution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119" name="Google Shape;11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125" y="3671875"/>
            <a:ext cx="3629025" cy="8979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23525" y="3739750"/>
            <a:ext cx="5279625" cy="76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Results - Explanation Features</a:t>
            </a:r>
            <a:endParaRPr/>
          </a:p>
        </p:txBody>
      </p:sp>
      <p:graphicFrame>
        <p:nvGraphicFramePr>
          <p:cNvPr id="126" name="Google Shape;126;p24"/>
          <p:cNvGraphicFramePr/>
          <p:nvPr/>
        </p:nvGraphicFramePr>
        <p:xfrm>
          <a:off x="952500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{0AF32BE9-7C58-4FAF-A935-57CF8D1395A2}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Category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Entropy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Gini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Top-5 Mass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Gender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0.9874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0.0922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0.4490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Origin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0.9885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0.0936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0.3581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Race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0.9891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0.0851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0.4068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Religion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0.9884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0.0850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0.3625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Sexuality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0.9926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0.0786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0.6108</a:t>
                      </a:r>
                      <a:endParaRPr b="1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7" name="Google Shape;127;p24"/>
          <p:cNvSpPr txBox="1"/>
          <p:nvPr/>
        </p:nvSpPr>
        <p:spPr>
          <a:xfrm>
            <a:off x="2334300" y="4094575"/>
            <a:ext cx="447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Distribution Metrics for Attention Weights</a:t>
            </a:r>
            <a:endParaRPr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Results - Explanation Features</a:t>
            </a:r>
            <a:endParaRPr/>
          </a:p>
        </p:txBody>
      </p:sp>
      <p:graphicFrame>
        <p:nvGraphicFramePr>
          <p:cNvPr id="133" name="Google Shape;133;p25"/>
          <p:cNvGraphicFramePr/>
          <p:nvPr/>
        </p:nvGraphicFramePr>
        <p:xfrm>
          <a:off x="952500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{0AF32BE9-7C58-4FAF-A935-57CF8D1395A2}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Category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Entropy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Gini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Top-5 Mass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Gender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0.9936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0.0636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0.5131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Origin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0.9961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0.0565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0.4223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Race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0.9945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0.0575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0.5068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Religion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0.9939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0.0617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0.4575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Sexuality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0.9900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0.0671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0.7538</a:t>
                      </a:r>
                      <a:endParaRPr b="1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4" name="Google Shape;134;p25"/>
          <p:cNvSpPr txBox="1"/>
          <p:nvPr/>
        </p:nvSpPr>
        <p:spPr>
          <a:xfrm>
            <a:off x="2334300" y="4094575"/>
            <a:ext cx="447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Distribution Metrics for LIME scores</a:t>
            </a:r>
            <a:endParaRPr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Results - Explanation Features</a:t>
            </a:r>
            <a:endParaRPr/>
          </a:p>
        </p:txBody>
      </p:sp>
      <p:graphicFrame>
        <p:nvGraphicFramePr>
          <p:cNvPr id="140" name="Google Shape;140;p26"/>
          <p:cNvGraphicFramePr/>
          <p:nvPr/>
        </p:nvGraphicFramePr>
        <p:xfrm>
          <a:off x="952500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{0AF32BE9-7C58-4FAF-A935-57CF8D1395A2}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Category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Entropy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Gini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Top-5 Mass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Gender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0.9449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0.2181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0.5193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Origin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0.9643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0.1820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0.4036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Race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0.9583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0.1945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0.4659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Religion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0.9569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0.1922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0.4169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Sexuality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0.9348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0.2284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0.6840</a:t>
                      </a:r>
                      <a:endParaRPr b="1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1" name="Google Shape;141;p26"/>
          <p:cNvSpPr txBox="1"/>
          <p:nvPr/>
        </p:nvSpPr>
        <p:spPr>
          <a:xfrm>
            <a:off x="2334300" y="4094575"/>
            <a:ext cx="447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Distribution Metrics for SHAP scores</a:t>
            </a:r>
            <a:endParaRPr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Results - Explanation Features</a:t>
            </a:r>
            <a:endParaRPr/>
          </a:p>
        </p:txBody>
      </p:sp>
      <p:graphicFrame>
        <p:nvGraphicFramePr>
          <p:cNvPr id="147" name="Google Shape;147;p27"/>
          <p:cNvGraphicFramePr/>
          <p:nvPr/>
        </p:nvGraphicFramePr>
        <p:xfrm>
          <a:off x="952500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{0AF32BE9-7C58-4FAF-A935-57CF8D1395A2}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Category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Spearman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Kendall Tau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Jaccard Top-5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Gender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0.0331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0.0232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0.0859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Origin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0.0477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0.0388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0.0753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Race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0.0152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0.0075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0.0947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Religion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0.0148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0.0103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0.0810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Sexuality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-0.1779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-0.1574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0.1784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8" name="Google Shape;148;p27"/>
          <p:cNvSpPr txBox="1"/>
          <p:nvPr/>
        </p:nvSpPr>
        <p:spPr>
          <a:xfrm>
            <a:off x="2334300" y="4094575"/>
            <a:ext cx="447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Ranking Metrics for Attention Weights-SHAP </a:t>
            </a:r>
            <a:endParaRPr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Results - Adversarial Examples</a:t>
            </a:r>
            <a:endParaRPr/>
          </a:p>
        </p:txBody>
      </p:sp>
      <p:graphicFrame>
        <p:nvGraphicFramePr>
          <p:cNvPr id="154" name="Google Shape;154;p28"/>
          <p:cNvGraphicFramePr/>
          <p:nvPr/>
        </p:nvGraphicFramePr>
        <p:xfrm>
          <a:off x="952500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{0AF32BE9-7C58-4FAF-A935-57CF8D1395A2}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Category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FR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CD-µ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CD-σ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Gender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1.04%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-0.0785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0.2790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Origin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7.41%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-0.0404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0.3505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Race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3.68%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-0.0693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0.3023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Religion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6.86%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0.0102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0.3457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Sexuality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5.17%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0.0027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0.3110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55" name="Google Shape;155;p28"/>
          <p:cNvSpPr txBox="1"/>
          <p:nvPr/>
        </p:nvSpPr>
        <p:spPr>
          <a:xfrm>
            <a:off x="2334300" y="4094575"/>
            <a:ext cx="447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Adversarial Metrics for Attention Weights </a:t>
            </a:r>
            <a:endParaRPr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Results - Adversarial Examples</a:t>
            </a:r>
            <a:endParaRPr/>
          </a:p>
        </p:txBody>
      </p:sp>
      <p:graphicFrame>
        <p:nvGraphicFramePr>
          <p:cNvPr id="161" name="Google Shape;161;p29"/>
          <p:cNvGraphicFramePr/>
          <p:nvPr/>
        </p:nvGraphicFramePr>
        <p:xfrm>
          <a:off x="952500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{0AF32BE9-7C58-4FAF-A935-57CF8D1395A2}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Category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FR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CD-µ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CD-σ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Gender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2.08%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-0.0585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0.2894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Origin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9.88%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-0.0216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0.3627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Race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2.45%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-0.0498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0.2749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Religion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4.90%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0.0239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0.2416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Sexuality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3.45%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0.0160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0.2179</a:t>
                      </a:r>
                      <a:endParaRPr b="1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62" name="Google Shape;162;p29"/>
          <p:cNvSpPr txBox="1"/>
          <p:nvPr/>
        </p:nvSpPr>
        <p:spPr>
          <a:xfrm>
            <a:off x="2334300" y="4094575"/>
            <a:ext cx="447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Adversarial Metrics for LIME</a:t>
            </a:r>
            <a:endParaRPr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Results - Adversarial Examples</a:t>
            </a:r>
            <a:endParaRPr/>
          </a:p>
        </p:txBody>
      </p:sp>
      <p:graphicFrame>
        <p:nvGraphicFramePr>
          <p:cNvPr id="168" name="Google Shape;168;p30"/>
          <p:cNvGraphicFramePr/>
          <p:nvPr/>
        </p:nvGraphicFramePr>
        <p:xfrm>
          <a:off x="952500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{0AF32BE9-7C58-4FAF-A935-57CF8D1395A2}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Category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FR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CD-µ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CD-σ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Gender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9.38%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-0.0638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0.3018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Origin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12.35%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-0.0222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0.3673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Race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6.13%</a:t>
                      </a:r>
                      <a:r>
                        <a:rPr lang="en-GB"/>
                        <a:t>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-0.0537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0.2799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Religion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6.86%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0.0253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0.2451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Sexuality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6.90%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0.0166 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0.2218</a:t>
                      </a:r>
                      <a:endParaRPr b="1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69" name="Google Shape;169;p30"/>
          <p:cNvSpPr txBox="1"/>
          <p:nvPr/>
        </p:nvSpPr>
        <p:spPr>
          <a:xfrm>
            <a:off x="2334300" y="4094575"/>
            <a:ext cx="447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Adversarial Metrics for SHAP</a:t>
            </a:r>
            <a:endParaRPr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Conclusion</a:t>
            </a:r>
            <a:endParaRPr/>
          </a:p>
        </p:txBody>
      </p:sp>
      <p:sp>
        <p:nvSpPr>
          <p:cNvPr id="175" name="Google Shape;175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/>
              <a:t>a</a:t>
            </a:r>
            <a:r>
              <a:rPr b="1" lang="en-GB"/>
              <a:t>ttention weights alone are unreliable: </a:t>
            </a:r>
            <a:r>
              <a:rPr lang="en-GB"/>
              <a:t>weak correlation with SHAP shows they capture different aspects of model behavior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/>
              <a:t>SHAP identifies more critical tokens</a:t>
            </a:r>
            <a:r>
              <a:rPr lang="en-GB"/>
              <a:t>: higher flip rates in adversarial tests indicate SHAP-identified tokens have stronger influence on predictions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/>
              <a:t>Multiple explanation methods are necessary</a:t>
            </a:r>
            <a:endParaRPr b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2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